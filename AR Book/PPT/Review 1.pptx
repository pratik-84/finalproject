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38" r:id="rId5"/>
    <p:sldId id="304" r:id="rId6"/>
    <p:sldId id="347" r:id="rId7"/>
    <p:sldId id="282" r:id="rId8"/>
    <p:sldId id="350" r:id="rId9"/>
    <p:sldId id="351" r:id="rId10"/>
    <p:sldId id="336" r:id="rId11"/>
    <p:sldId id="339" r:id="rId12"/>
    <p:sldId id="348" r:id="rId13"/>
    <p:sldId id="352" r:id="rId14"/>
    <p:sldId id="346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6"/>
    <a:srgbClr val="202C8F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583949-A578-476E-AC83-7195D4F76923}" v="58" dt="2024-09-22T11:08:35.909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1042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SHARMA" userId="d4b128edbff74741" providerId="LiveId" clId="{27583949-A578-476E-AC83-7195D4F76923}"/>
    <pc:docChg chg="undo custSel addSld modSld">
      <pc:chgData name="HIMANSHU SHARMA" userId="d4b128edbff74741" providerId="LiveId" clId="{27583949-A578-476E-AC83-7195D4F76923}" dt="2024-09-22T11:41:35.729" v="381" actId="255"/>
      <pc:docMkLst>
        <pc:docMk/>
      </pc:docMkLst>
      <pc:sldChg chg="modSp mod">
        <pc:chgData name="HIMANSHU SHARMA" userId="d4b128edbff74741" providerId="LiveId" clId="{27583949-A578-476E-AC83-7195D4F76923}" dt="2024-09-22T11:15:20.538" v="39" actId="14100"/>
        <pc:sldMkLst>
          <pc:docMk/>
          <pc:sldMk cId="3224817477" sldId="336"/>
        </pc:sldMkLst>
        <pc:spChg chg="mod">
          <ac:chgData name="HIMANSHU SHARMA" userId="d4b128edbff74741" providerId="LiveId" clId="{27583949-A578-476E-AC83-7195D4F76923}" dt="2024-09-22T11:13:43.009" v="27" actId="1076"/>
          <ac:spMkLst>
            <pc:docMk/>
            <pc:sldMk cId="3224817477" sldId="336"/>
            <ac:spMk id="2" creationId="{94C9FF91-7636-7C0C-55C1-BB9110D76421}"/>
          </ac:spMkLst>
        </pc:spChg>
        <pc:spChg chg="mod">
          <ac:chgData name="HIMANSHU SHARMA" userId="d4b128edbff74741" providerId="LiveId" clId="{27583949-A578-476E-AC83-7195D4F76923}" dt="2024-09-22T11:15:20.538" v="39" actId="14100"/>
          <ac:spMkLst>
            <pc:docMk/>
            <pc:sldMk cId="3224817477" sldId="336"/>
            <ac:spMk id="3" creationId="{11D7B205-BFFA-4FEA-95C0-91256A16507F}"/>
          </ac:spMkLst>
        </pc:spChg>
      </pc:sldChg>
      <pc:sldChg chg="modSp mod">
        <pc:chgData name="HIMANSHU SHARMA" userId="d4b128edbff74741" providerId="LiveId" clId="{27583949-A578-476E-AC83-7195D4F76923}" dt="2024-09-22T11:27:30.434" v="150" actId="20577"/>
        <pc:sldMkLst>
          <pc:docMk/>
          <pc:sldMk cId="1073346332" sldId="339"/>
        </pc:sldMkLst>
        <pc:spChg chg="mod">
          <ac:chgData name="HIMANSHU SHARMA" userId="d4b128edbff74741" providerId="LiveId" clId="{27583949-A578-476E-AC83-7195D4F76923}" dt="2024-09-22T11:27:30.434" v="150" actId="20577"/>
          <ac:spMkLst>
            <pc:docMk/>
            <pc:sldMk cId="1073346332" sldId="339"/>
            <ac:spMk id="5" creationId="{593106CA-E9BC-2D1E-4B27-A99B6FED8E0D}"/>
          </ac:spMkLst>
        </pc:spChg>
      </pc:sldChg>
      <pc:sldChg chg="modSp mod">
        <pc:chgData name="HIMANSHU SHARMA" userId="d4b128edbff74741" providerId="LiveId" clId="{27583949-A578-476E-AC83-7195D4F76923}" dt="2024-09-22T11:41:01.418" v="369" actId="20577"/>
        <pc:sldMkLst>
          <pc:docMk/>
          <pc:sldMk cId="3848372381" sldId="348"/>
        </pc:sldMkLst>
        <pc:spChg chg="mod">
          <ac:chgData name="HIMANSHU SHARMA" userId="d4b128edbff74741" providerId="LiveId" clId="{27583949-A578-476E-AC83-7195D4F76923}" dt="2024-09-22T11:41:01.418" v="369" actId="20577"/>
          <ac:spMkLst>
            <pc:docMk/>
            <pc:sldMk cId="3848372381" sldId="348"/>
            <ac:spMk id="3" creationId="{64F2DFC6-A7DE-6E0F-DF10-A45C426B353B}"/>
          </ac:spMkLst>
        </pc:spChg>
      </pc:sldChg>
      <pc:sldChg chg="modSp mod">
        <pc:chgData name="HIMANSHU SHARMA" userId="d4b128edbff74741" providerId="LiveId" clId="{27583949-A578-476E-AC83-7195D4F76923}" dt="2024-09-22T10:24:26.476" v="7"/>
        <pc:sldMkLst>
          <pc:docMk/>
          <pc:sldMk cId="2112845850" sldId="350"/>
        </pc:sldMkLst>
        <pc:graphicFrameChg chg="mod modGraphic">
          <ac:chgData name="HIMANSHU SHARMA" userId="d4b128edbff74741" providerId="LiveId" clId="{27583949-A578-476E-AC83-7195D4F76923}" dt="2024-09-22T10:24:26.476" v="7"/>
          <ac:graphicFrameMkLst>
            <pc:docMk/>
            <pc:sldMk cId="2112845850" sldId="350"/>
            <ac:graphicFrameMk id="5" creationId="{CCC7C3DC-9614-C719-5170-0F0BD9EE678E}"/>
          </ac:graphicFrameMkLst>
        </pc:graphicFrameChg>
      </pc:sldChg>
      <pc:sldChg chg="modSp mod">
        <pc:chgData name="HIMANSHU SHARMA" userId="d4b128edbff74741" providerId="LiveId" clId="{27583949-A578-476E-AC83-7195D4F76923}" dt="2024-09-22T11:09:16.428" v="21" actId="12"/>
        <pc:sldMkLst>
          <pc:docMk/>
          <pc:sldMk cId="2481163284" sldId="351"/>
        </pc:sldMkLst>
        <pc:graphicFrameChg chg="mod modGraphic">
          <ac:chgData name="HIMANSHU SHARMA" userId="d4b128edbff74741" providerId="LiveId" clId="{27583949-A578-476E-AC83-7195D4F76923}" dt="2024-09-22T11:09:16.428" v="21" actId="12"/>
          <ac:graphicFrameMkLst>
            <pc:docMk/>
            <pc:sldMk cId="2481163284" sldId="351"/>
            <ac:graphicFrameMk id="7" creationId="{0FB5AAF6-BFEE-9DA8-7E5F-AC7A9ECAB1EE}"/>
          </ac:graphicFrameMkLst>
        </pc:graphicFrameChg>
      </pc:sldChg>
      <pc:sldChg chg="modSp new mod">
        <pc:chgData name="HIMANSHU SHARMA" userId="d4b128edbff74741" providerId="LiveId" clId="{27583949-A578-476E-AC83-7195D4F76923}" dt="2024-09-22T11:41:35.729" v="381" actId="255"/>
        <pc:sldMkLst>
          <pc:docMk/>
          <pc:sldMk cId="3596882405" sldId="352"/>
        </pc:sldMkLst>
        <pc:spChg chg="mod">
          <ac:chgData name="HIMANSHU SHARMA" userId="d4b128edbff74741" providerId="LiveId" clId="{27583949-A578-476E-AC83-7195D4F76923}" dt="2024-09-22T11:39:58.560" v="349" actId="1076"/>
          <ac:spMkLst>
            <pc:docMk/>
            <pc:sldMk cId="3596882405" sldId="352"/>
            <ac:spMk id="2" creationId="{F53BB4A3-F2CB-D188-3827-F165B0D64819}"/>
          </ac:spMkLst>
        </pc:spChg>
        <pc:spChg chg="mod">
          <ac:chgData name="HIMANSHU SHARMA" userId="d4b128edbff74741" providerId="LiveId" clId="{27583949-A578-476E-AC83-7195D4F76923}" dt="2024-09-22T11:41:35.729" v="381" actId="255"/>
          <ac:spMkLst>
            <pc:docMk/>
            <pc:sldMk cId="3596882405" sldId="352"/>
            <ac:spMk id="3" creationId="{B8ED57F4-55EB-6663-E4C6-78E625EE5E4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A64E9B-884E-C277-C673-16B212784396}"/>
              </a:ext>
            </a:extLst>
          </p:cNvPr>
          <p:cNvSpPr txBox="1"/>
          <p:nvPr/>
        </p:nvSpPr>
        <p:spPr>
          <a:xfrm>
            <a:off x="0" y="-97566"/>
            <a:ext cx="12192000" cy="133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4185" indent="-6350" algn="ctr">
              <a:lnSpc>
                <a:spcPct val="150000"/>
              </a:lnSpc>
              <a:spcAft>
                <a:spcPts val="15"/>
              </a:spcAft>
            </a:pPr>
            <a:r>
              <a:rPr lang="en-IN" sz="2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RAJIV GANDHI COLLEGE OF ENGINEERING, RESEARCH &amp; TECHNOLOGY, CHANDRAPUR</a:t>
            </a:r>
            <a:endParaRPr lang="en-IN" sz="2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64185" indent="-6350" algn="ctr">
              <a:lnSpc>
                <a:spcPct val="150000"/>
              </a:lnSpc>
              <a:spcAft>
                <a:spcPts val="15"/>
              </a:spcAft>
            </a:pPr>
            <a:r>
              <a:rPr lang="en-IN" sz="2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(DR. BABASAHEB AMBEDKAR TECHNOLOGICAL UNIVERSITY, LONERE</a:t>
            </a:r>
            <a:r>
              <a:rPr lang="en-IN" sz="2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</a:p>
          <a:p>
            <a:pPr marL="464185" indent="-6350" algn="ctr">
              <a:lnSpc>
                <a:spcPct val="110000"/>
              </a:lnSpc>
              <a:spcAft>
                <a:spcPts val="15"/>
              </a:spcAft>
            </a:pPr>
            <a:r>
              <a:rPr lang="en-IN" sz="2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rimo"/>
                <a:ea typeface="Arimo"/>
                <a:cs typeface="Arimo"/>
              </a:rPr>
              <a:t>(2024-25)</a:t>
            </a:r>
            <a:endParaRPr lang="en-IN" sz="2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BE18C-D406-87A2-74B9-B10335997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87" y="1239723"/>
            <a:ext cx="1704975" cy="1085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258D21-1385-5D5F-375E-014B282832E3}"/>
              </a:ext>
            </a:extLst>
          </p:cNvPr>
          <p:cNvSpPr txBox="1"/>
          <p:nvPr/>
        </p:nvSpPr>
        <p:spPr>
          <a:xfrm>
            <a:off x="3266297" y="2350771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Project Seminar</a:t>
            </a:r>
          </a:p>
          <a:p>
            <a:pPr algn="ctr"/>
            <a:r>
              <a:rPr lang="en-US" sz="2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Group no. :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4A282-168F-C824-69E1-2285E5101A0A}"/>
              </a:ext>
            </a:extLst>
          </p:cNvPr>
          <p:cNvSpPr txBox="1"/>
          <p:nvPr/>
        </p:nvSpPr>
        <p:spPr>
          <a:xfrm>
            <a:off x="3855027" y="3125287"/>
            <a:ext cx="50603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“Automated Image</a:t>
            </a:r>
          </a:p>
          <a:p>
            <a:pPr algn="ctr"/>
            <a:r>
              <a:rPr lang="en-IN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Processing 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”</a:t>
            </a:r>
          </a:p>
          <a:p>
            <a:pPr algn="ctr"/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Gaurav </a:t>
            </a:r>
            <a:r>
              <a:rPr lang="en-US" sz="24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Khadilkar</a:t>
            </a:r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CSEB702</a:t>
            </a:r>
          </a:p>
          <a:p>
            <a:pPr algn="ctr"/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Pratik </a:t>
            </a:r>
            <a:r>
              <a:rPr lang="en-US" sz="24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Khairwar</a:t>
            </a:r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CSEB703</a:t>
            </a:r>
          </a:p>
          <a:p>
            <a:pPr algn="ctr"/>
            <a:r>
              <a:rPr lang="en-US" sz="24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ChetanKumar</a:t>
            </a:r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Meshram</a:t>
            </a:r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CSEB714</a:t>
            </a:r>
          </a:p>
          <a:p>
            <a:pPr algn="ctr"/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Himanshu Sharma - CSEB744</a:t>
            </a:r>
          </a:p>
          <a:p>
            <a:pPr algn="ctr"/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Kaivalya </a:t>
            </a:r>
            <a:r>
              <a:rPr lang="en-US" sz="24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Tannirawar</a:t>
            </a:r>
            <a:r>
              <a:rPr lang="en-U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CSEA750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09FEE-9332-B494-8258-6BF35533A222}"/>
              </a:ext>
            </a:extLst>
          </p:cNvPr>
          <p:cNvSpPr txBox="1"/>
          <p:nvPr/>
        </p:nvSpPr>
        <p:spPr>
          <a:xfrm>
            <a:off x="793693" y="5672001"/>
            <a:ext cx="185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Dr.</a:t>
            </a:r>
            <a:r>
              <a:rPr lang="en-IN" b="1" dirty="0">
                <a:solidFill>
                  <a:srgbClr val="002060"/>
                </a:solidFill>
              </a:rPr>
              <a:t> Nitin </a:t>
            </a:r>
            <a:r>
              <a:rPr lang="en-IN" b="1" dirty="0" err="1">
                <a:solidFill>
                  <a:srgbClr val="002060"/>
                </a:solidFill>
              </a:rPr>
              <a:t>Janwe</a:t>
            </a:r>
            <a:r>
              <a:rPr lang="en-IN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IN" b="1" dirty="0">
                <a:solidFill>
                  <a:srgbClr val="002060"/>
                </a:solidFill>
              </a:rPr>
              <a:t> HOD, CSE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E3032-2C4A-53D9-25E6-E306260CC802}"/>
              </a:ext>
            </a:extLst>
          </p:cNvPr>
          <p:cNvSpPr txBox="1"/>
          <p:nvPr/>
        </p:nvSpPr>
        <p:spPr>
          <a:xfrm>
            <a:off x="9194933" y="5672000"/>
            <a:ext cx="1908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Dr.</a:t>
            </a:r>
            <a:r>
              <a:rPr lang="en-IN" b="1" dirty="0">
                <a:solidFill>
                  <a:srgbClr val="002060"/>
                </a:solidFill>
              </a:rPr>
              <a:t> Manisha </a:t>
            </a:r>
            <a:r>
              <a:rPr lang="en-IN" b="1" dirty="0" err="1">
                <a:solidFill>
                  <a:srgbClr val="002060"/>
                </a:solidFill>
              </a:rPr>
              <a:t>Pise</a:t>
            </a:r>
            <a:br>
              <a:rPr lang="en-IN"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Project </a:t>
            </a:r>
            <a:r>
              <a:rPr lang="en-IN" b="1" dirty="0" err="1">
                <a:solidFill>
                  <a:srgbClr val="002060"/>
                </a:solidFill>
              </a:rPr>
              <a:t>Incharge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45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3009"/>
            <a:ext cx="6583680" cy="1531357"/>
          </a:xfrm>
        </p:spPr>
        <p:txBody>
          <a:bodyPr/>
          <a:lstStyle/>
          <a:p>
            <a:r>
              <a:rPr lang="en-US" sz="4400" dirty="0"/>
              <a:t>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5328"/>
            <a:ext cx="6583680" cy="320734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Abstract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Literature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 Requirements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Modules to be Developed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References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AA1D-342E-C374-72C4-198472A9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6667D-09D4-E704-0BEB-3A14623EE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3063888"/>
            <a:ext cx="7965460" cy="2308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__Inter_36bd41"/>
              </a:rPr>
              <a:t>The project "Automated Image Processing at Scale" is an open-source solution provided by AWS Samples . The project aims to demonstrate how to automate image processing tasks using Amazon Web Services (AWS) and serverless architecture. It showcases a scalable and cost-effective approach to processing large volumes of images, leveraging AWS services such as AWS Lambda, Amazon S3, and Amazon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__Inter_36bd41"/>
              </a:rPr>
              <a:t>Rekognition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__Inter_36bd41"/>
              </a:rPr>
              <a:t>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B505-DB57-7CCC-A66C-CD2F2FBEE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62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2051"/>
            <a:ext cx="7965461" cy="943897"/>
          </a:xfrm>
        </p:spPr>
        <p:txBody>
          <a:bodyPr/>
          <a:lstStyle/>
          <a:p>
            <a:r>
              <a:rPr lang="en-US" sz="4400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0014" y="2644878"/>
            <a:ext cx="8496012" cy="23695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The project addresses the growing need for efficient image processing in various industries, including e-commerce, healthcare, and media. With the increasing amount of image data being generated, manual processing becomes impractical, and automated solutions are necessary to reduce costs and improve productivity. This project provides a scalable and serverless architecture for automating image processing tasks, enabling developers to focus on their core business logic.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1D6E-D310-42BC-BF6B-C53905CC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52" y="-519531"/>
            <a:ext cx="7482348" cy="1531357"/>
          </a:xfrm>
        </p:spPr>
        <p:txBody>
          <a:bodyPr/>
          <a:lstStyle/>
          <a:p>
            <a:r>
              <a:rPr lang="en-IN" sz="4400" dirty="0"/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C7C3DC-9614-C719-5170-0F0BD9EE6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556717"/>
              </p:ext>
            </p:extLst>
          </p:nvPr>
        </p:nvGraphicFramePr>
        <p:xfrm>
          <a:off x="454597" y="1281872"/>
          <a:ext cx="11301974" cy="533104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3980">
                  <a:extLst>
                    <a:ext uri="{9D8B030D-6E8A-4147-A177-3AD203B41FA5}">
                      <a16:colId xmlns:a16="http://schemas.microsoft.com/office/drawing/2014/main" val="2152031449"/>
                    </a:ext>
                  </a:extLst>
                </a:gridCol>
                <a:gridCol w="1963562">
                  <a:extLst>
                    <a:ext uri="{9D8B030D-6E8A-4147-A177-3AD203B41FA5}">
                      <a16:colId xmlns:a16="http://schemas.microsoft.com/office/drawing/2014/main" val="3556880553"/>
                    </a:ext>
                  </a:extLst>
                </a:gridCol>
                <a:gridCol w="3762736">
                  <a:extLst>
                    <a:ext uri="{9D8B030D-6E8A-4147-A177-3AD203B41FA5}">
                      <a16:colId xmlns:a16="http://schemas.microsoft.com/office/drawing/2014/main" val="1982544584"/>
                    </a:ext>
                  </a:extLst>
                </a:gridCol>
                <a:gridCol w="3361696">
                  <a:extLst>
                    <a:ext uri="{9D8B030D-6E8A-4147-A177-3AD203B41FA5}">
                      <a16:colId xmlns:a16="http://schemas.microsoft.com/office/drawing/2014/main" val="3008468608"/>
                    </a:ext>
                  </a:extLst>
                </a:gridCol>
              </a:tblGrid>
              <a:tr h="729343">
                <a:tc>
                  <a:txBody>
                    <a:bodyPr/>
                    <a:lstStyle/>
                    <a:p>
                      <a:r>
                        <a:rPr lang="en-US" sz="1700" dirty="0"/>
                        <a:t>Author’s &amp; Year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Title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Algorithms/Methods Used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Key Findings</a:t>
                      </a:r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80016"/>
                  </a:ext>
                </a:extLst>
              </a:tr>
              <a:tr h="2125356">
                <a:tc>
                  <a:txBody>
                    <a:bodyPr/>
                    <a:lstStyle/>
                    <a:p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Mr. Sachin </a:t>
                      </a:r>
                      <a:r>
                        <a:rPr lang="en-IN" sz="17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Sonawane</a:t>
                      </a:r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7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Mohan </a:t>
                      </a:r>
                      <a:r>
                        <a:rPr lang="en-IN" sz="17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Awasthy</a:t>
                      </a:r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7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Nitin Choubey</a:t>
                      </a:r>
                    </a:p>
                    <a:p>
                      <a:endParaRPr lang="en-IN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700" dirty="0"/>
                        <a:t>Volume 6, Issue 2, 2019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 Literature Review on Image Processing and Classification </a:t>
                      </a:r>
                    </a:p>
                    <a:p>
                      <a:r>
                        <a:rPr lang="en-US" sz="1700" dirty="0"/>
                        <a:t>Techniques for Agriculture Produce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Neural Networks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Support Vector Machines (SVM)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Probabilistic Neural Networks (PNN)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Image Processing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 The authors propose a two-stage model for soybean quality assessment, utilizing image processing techniques and machine learning algorithms.</a:t>
                      </a:r>
                    </a:p>
                    <a:p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287819"/>
                  </a:ext>
                </a:extLst>
              </a:tr>
              <a:tr h="2476343">
                <a:tc>
                  <a:txBody>
                    <a:bodyPr/>
                    <a:lstStyle/>
                    <a:p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Amandeep Kour , Vimal Kishore Yadav , Vikas Maheshwari , Deepak </a:t>
                      </a:r>
                      <a:r>
                        <a:rPr lang="en-IN" sz="17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Prashar</a:t>
                      </a:r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en-IN" sz="17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Published on 2013</a:t>
                      </a:r>
                      <a:endParaRPr lang="en-IN" sz="1700" b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 Literature Review on </a:t>
                      </a:r>
                      <a:r>
                        <a:rPr lang="en-IN" sz="1700" dirty="0"/>
                        <a:t>Image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K-Means Segmentation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FFT (Fast Fourier Transform)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DCT (Discrete Cosine Transform)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Image processing improves pictorial information, making it easily interpretable by humans.</a:t>
                      </a:r>
                    </a:p>
                    <a:p>
                      <a:r>
                        <a:rPr lang="en-US" sz="1700" dirty="0"/>
                        <a:t>Image processing enables easy storage, transmission, and representation of images for autonomous machine perception.</a:t>
                      </a:r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636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EED53-587D-8E28-E1D9-B0F6B0711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4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12503-8588-B309-C1EB-4FD2F4A66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B5AAF6-BFEE-9DA8-7E5F-AC7A9ECAB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65373"/>
              </p:ext>
            </p:extLst>
          </p:nvPr>
        </p:nvGraphicFramePr>
        <p:xfrm>
          <a:off x="592282" y="1069759"/>
          <a:ext cx="11239917" cy="34011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51923">
                  <a:extLst>
                    <a:ext uri="{9D8B030D-6E8A-4147-A177-3AD203B41FA5}">
                      <a16:colId xmlns:a16="http://schemas.microsoft.com/office/drawing/2014/main" val="4146946952"/>
                    </a:ext>
                  </a:extLst>
                </a:gridCol>
                <a:gridCol w="1963562">
                  <a:extLst>
                    <a:ext uri="{9D8B030D-6E8A-4147-A177-3AD203B41FA5}">
                      <a16:colId xmlns:a16="http://schemas.microsoft.com/office/drawing/2014/main" val="206652392"/>
                    </a:ext>
                  </a:extLst>
                </a:gridCol>
                <a:gridCol w="3762736">
                  <a:extLst>
                    <a:ext uri="{9D8B030D-6E8A-4147-A177-3AD203B41FA5}">
                      <a16:colId xmlns:a16="http://schemas.microsoft.com/office/drawing/2014/main" val="3882751992"/>
                    </a:ext>
                  </a:extLst>
                </a:gridCol>
                <a:gridCol w="3361696">
                  <a:extLst>
                    <a:ext uri="{9D8B030D-6E8A-4147-A177-3AD203B41FA5}">
                      <a16:colId xmlns:a16="http://schemas.microsoft.com/office/drawing/2014/main" val="2615763312"/>
                    </a:ext>
                  </a:extLst>
                </a:gridCol>
              </a:tblGrid>
              <a:tr h="671955">
                <a:tc>
                  <a:txBody>
                    <a:bodyPr/>
                    <a:lstStyle/>
                    <a:p>
                      <a:r>
                        <a:rPr lang="en-US" sz="1600" dirty="0"/>
                        <a:t>Author’s &amp; Year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Title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Algorithms/Methods Used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Findings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453591"/>
                  </a:ext>
                </a:extLst>
              </a:tr>
              <a:tr h="1174671"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Jangala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Sasi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Kiran , 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N. Vijaya Kumar , N. Sashi Prabha ,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M. Kavya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 Literature Survey on Digital Image Processing </a:t>
                      </a:r>
                    </a:p>
                    <a:p>
                      <a:r>
                        <a:rPr lang="en-IN" sz="1600" dirty="0"/>
                        <a:t>Techniques in Character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Support Vector Machine (SVM)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Otsu’s algorithm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Statistical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 survey highlights the existence of various feature extraction methods that can be implemented in OCR systems for different Indian scripts.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25673"/>
                  </a:ext>
                </a:extLst>
              </a:tr>
              <a:tr h="1174671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648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16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FF91-7636-7C0C-55C1-BB9110D7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893" y="0"/>
            <a:ext cx="8150942" cy="994164"/>
          </a:xfrm>
        </p:spPr>
        <p:txBody>
          <a:bodyPr/>
          <a:lstStyle/>
          <a:p>
            <a:pPr algn="ctr"/>
            <a:r>
              <a:rPr lang="en-IN" sz="4400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7B205-BFFA-4FEA-95C0-91256A165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5717" y="1500134"/>
            <a:ext cx="9500083" cy="4079783"/>
          </a:xfrm>
        </p:spPr>
        <p:txBody>
          <a:bodyPr>
            <a:noAutofit/>
          </a:bodyPr>
          <a:lstStyle/>
          <a:p>
            <a:pPr algn="l"/>
            <a:r>
              <a:rPr lang="en-US" sz="2200" b="0" i="0" dirty="0">
                <a:solidFill>
                  <a:srgbClr val="374151"/>
                </a:solidFill>
                <a:effectLst/>
                <a:latin typeface="__Inter_36bd41"/>
              </a:rPr>
              <a:t>Automated image processing faces challenges like handling noisy data, recognizing complex objects, and adapting to varying lighting conditions. </a:t>
            </a:r>
          </a:p>
          <a:p>
            <a:pPr algn="l"/>
            <a:r>
              <a:rPr lang="en-US" sz="2200" b="0" i="0" dirty="0">
                <a:solidFill>
                  <a:srgbClr val="374151"/>
                </a:solidFill>
                <a:effectLst/>
                <a:latin typeface="__Inter_36bd41"/>
              </a:rPr>
              <a:t>This research aims to address these challenges and improve the accuracy and efficiency of automated image processing systems.</a:t>
            </a:r>
          </a:p>
          <a:p>
            <a:pPr algn="l"/>
            <a:r>
              <a:rPr lang="en-US" sz="2200" b="0" i="0" dirty="0">
                <a:solidFill>
                  <a:srgbClr val="374151"/>
                </a:solidFill>
                <a:effectLst/>
                <a:latin typeface="__Inter_36bd41"/>
              </a:rPr>
              <a:t>Dealing with noise and artifacts in images is crucial for accurate analysis.</a:t>
            </a:r>
          </a:p>
          <a:p>
            <a:pPr algn="l"/>
            <a:r>
              <a:rPr lang="en-US" sz="2200" b="0" i="0" dirty="0">
                <a:solidFill>
                  <a:srgbClr val="374151"/>
                </a:solidFill>
                <a:effectLst/>
                <a:latin typeface="__Inter_36bd41"/>
              </a:rPr>
              <a:t>Identifying and classifying objects within images is a fundamental task in automated image processing</a:t>
            </a:r>
          </a:p>
          <a:p>
            <a:pPr algn="l"/>
            <a:r>
              <a:rPr lang="en-US" sz="2200" b="0" i="0" dirty="0">
                <a:solidFill>
                  <a:srgbClr val="374151"/>
                </a:solidFill>
                <a:effectLst/>
                <a:latin typeface="__Inter_36bd41"/>
              </a:rPr>
              <a:t>Developing systems that can adapt to varying lighting conditions and image qualities is essential for real-world applications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marL="0" indent="0" algn="l">
              <a:buNone/>
            </a:pPr>
            <a:endParaRPr lang="en-US" sz="2000" b="0" i="0" dirty="0">
              <a:solidFill>
                <a:srgbClr val="374151"/>
              </a:solidFill>
              <a:effectLst/>
              <a:latin typeface="__Inter_36bd41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09C33-AAFC-0C3D-64AB-ABF6DF427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17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D211-3AB7-DAB2-6805-712C859A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314" y="457199"/>
            <a:ext cx="8593783" cy="738048"/>
          </a:xfrm>
        </p:spPr>
        <p:txBody>
          <a:bodyPr/>
          <a:lstStyle/>
          <a:p>
            <a:r>
              <a:rPr lang="en-IN" sz="4000" dirty="0"/>
              <a:t>System</a:t>
            </a:r>
            <a:r>
              <a:rPr lang="en-IN" sz="3200" dirty="0"/>
              <a:t> </a:t>
            </a:r>
            <a:r>
              <a:rPr lang="en-IN" sz="4000" dirty="0"/>
              <a:t>requirements</a:t>
            </a:r>
            <a:r>
              <a:rPr lang="en-IN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A09B3-1D93-E72A-E6B8-24652405AF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3106CA-E9BC-2D1E-4B27-A99B6FED8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45772" y="1195247"/>
            <a:ext cx="9694999" cy="54445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HARDWARE :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Sufficient storage for large datasets.</a:t>
            </a:r>
            <a:endParaRPr lang="en-US" sz="2000" dirty="0"/>
          </a:p>
          <a:p>
            <a:r>
              <a:rPr lang="en-US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</a:rPr>
              <a:t>Processor: Intel i5 or higher .</a:t>
            </a:r>
            <a:endParaRPr lang="en-US" sz="2000" b="1" dirty="0"/>
          </a:p>
          <a:p>
            <a:r>
              <a:rPr lang="en-US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</a:rPr>
              <a:t>RAM: 8GB+ (16GB recommended). </a:t>
            </a:r>
            <a:endParaRPr lang="en-US" sz="2000" b="1" dirty="0"/>
          </a:p>
          <a:p>
            <a:r>
              <a:rPr lang="en-US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</a:rPr>
              <a:t>Storage: 256GB SSD .</a:t>
            </a: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SOFTWARE :</a:t>
            </a:r>
          </a:p>
          <a:p>
            <a:r>
              <a:rPr lang="en-US" dirty="0">
                <a:solidFill>
                  <a:schemeClr val="tx1"/>
                </a:solidFill>
              </a:rPr>
              <a:t>AWS Account : An AWS account with the necessary permissions to create and manage AWS resources.</a:t>
            </a:r>
          </a:p>
          <a:p>
            <a:r>
              <a:rPr lang="en-US" dirty="0">
                <a:solidFill>
                  <a:schemeClr val="tx1"/>
                </a:solidFill>
              </a:rPr>
              <a:t>Amazon S3 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An Amazon S3 bucket is required for storing and retrieving images.</a:t>
            </a:r>
          </a:p>
          <a:p>
            <a:r>
              <a:rPr lang="en-US" dirty="0">
                <a:solidFill>
                  <a:schemeClr val="tx1"/>
                </a:solidFill>
              </a:rPr>
              <a:t>Amazon Lambda : Lambda eliminates the need for server management. You simply upload your code, and AWS Lambda takes care of everything required to run and scale your code with high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07334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2DFC6-A7DE-6E0F-DF10-A45C426B3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1632" y="1349302"/>
            <a:ext cx="7965460" cy="24537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1.  Image Ingestion: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Responsibility: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 This module is responsible for ingesting images into Amazon S3.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Key Tasks:</a:t>
            </a:r>
            <a:endParaRPr lang="en-US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Handle image uploads from various sources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Validate image formats and sizes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Store images in Amazon S3</a:t>
            </a:r>
            <a:endParaRPr lang="en-US" sz="2400" u="sng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2.  Image Processing: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Responsibility: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 This module utilizes AWS Lambda and Amazon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__Inter_36bd41"/>
              </a:rPr>
              <a:t>Rekognition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 to perform image processing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Key Tasks:</a:t>
            </a:r>
            <a:endParaRPr lang="en-US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Triggered by Amazon S3 events, execute AWS Lambda functions to process images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Utilize Amazon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__Inter_36bd41"/>
              </a:rPr>
              <a:t>Rekognition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 to perform image analysis tasks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Store processed image metadata in Amazon S3 or a database</a:t>
            </a:r>
          </a:p>
          <a:p>
            <a:endParaRPr lang="en-US" sz="2400" u="sng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7E359-0162-1300-9DB8-B1F49B8B9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02F6AF-FE36-B41B-E57F-0BA7586C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679" y="-68979"/>
            <a:ext cx="7964488" cy="993775"/>
          </a:xfrm>
        </p:spPr>
        <p:txBody>
          <a:bodyPr/>
          <a:lstStyle/>
          <a:p>
            <a:r>
              <a:rPr lang="en-IN" dirty="0"/>
              <a:t>Modules to be Developed</a:t>
            </a:r>
          </a:p>
        </p:txBody>
      </p:sp>
    </p:spTree>
    <p:extLst>
      <p:ext uri="{BB962C8B-B14F-4D97-AF65-F5344CB8AC3E}">
        <p14:creationId xmlns:p14="http://schemas.microsoft.com/office/powerpoint/2010/main" val="384837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B4A3-F2CB-D188-3827-F165B0D6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63110"/>
            <a:ext cx="7965461" cy="9941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D57F4-55EB-6663-E4C6-78E625EE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1322776"/>
            <a:ext cx="7965460" cy="5078025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i="0" dirty="0">
                <a:effectLst/>
                <a:latin typeface="__Inter_36bd41"/>
              </a:rPr>
              <a:t>3.  Image Storage Module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Responsibility: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 This module stores processed images in Amazon S3.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Key Tasks:</a:t>
            </a:r>
            <a:endParaRPr lang="en-US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Store processed images in Amazon S3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Manage image metadata and storage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Provide access to processed images through Amazon S3 or APIs</a:t>
            </a:r>
          </a:p>
          <a:p>
            <a:pPr marL="0" indent="0" algn="l">
              <a:buNone/>
            </a:pPr>
            <a:r>
              <a:rPr lang="en-US" sz="2400" b="1" i="0" dirty="0">
                <a:effectLst/>
                <a:latin typeface="__Inter_36bd41"/>
              </a:rPr>
              <a:t>4.  API Gateway Module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Responsibility: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 This module provides a RESTful API for interacting with the image processing service.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__Inter_36bd41"/>
              </a:rPr>
              <a:t>Key Tasks:</a:t>
            </a:r>
            <a:endParaRPr lang="en-US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Design and implement a RESTful API using API Gateway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Handle API requests and responses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__Inter_36bd41"/>
              </a:rPr>
              <a:t>Integrate with the Image Ingestion, Image Processing, and Image Storage modules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2ED7-12D0-F61C-FA79-602C2FA7B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88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B2D2-9BD7-F014-4998-F1B15F61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1133320"/>
            <a:ext cx="7965461" cy="653540"/>
          </a:xfrm>
        </p:spPr>
        <p:txBody>
          <a:bodyPr/>
          <a:lstStyle/>
          <a:p>
            <a:r>
              <a:rPr lang="en-IN" sz="4400" dirty="0"/>
              <a:t>references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23E73-01CC-3547-3050-8F0DD088C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1E4C27-E43D-7013-A166-C231356DD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6890" y="2693733"/>
            <a:ext cx="9547123" cy="2704177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__Inter_36bd41"/>
              </a:rPr>
              <a:t>AWS Lambda: </a:t>
            </a:r>
            <a:r>
              <a:rPr lang="en-US" sz="2000" b="0" i="0" u="none" strike="noStrike" dirty="0">
                <a:solidFill>
                  <a:srgbClr val="3286FF"/>
                </a:solidFill>
                <a:effectLst/>
                <a:latin typeface="__Inter_36bd41"/>
              </a:rPr>
              <a:t>https://aws.amazon.com/lambda/</a:t>
            </a:r>
            <a:endParaRPr lang="en-US" sz="2000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__Inter_36bd41"/>
              </a:rPr>
              <a:t>Amazon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__Inter_36bd41"/>
              </a:rPr>
              <a:t>Rekognition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__Inter_36bd41"/>
              </a:rPr>
              <a:t>: </a:t>
            </a:r>
            <a:r>
              <a:rPr lang="en-US" sz="2000" b="0" i="0" u="none" strike="noStrike" dirty="0">
                <a:solidFill>
                  <a:srgbClr val="3286FF"/>
                </a:solidFill>
                <a:effectLst/>
                <a:latin typeface="__Inter_36bd41"/>
              </a:rPr>
              <a:t>https://aws.amazon.com/rekognition/</a:t>
            </a:r>
            <a:endParaRPr lang="en-US" sz="2000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__Inter_36bd41"/>
              </a:rPr>
              <a:t>Amazon S3: </a:t>
            </a:r>
            <a:r>
              <a:rPr lang="en-US" sz="2000" b="0" i="0" u="none" strike="noStrike" dirty="0">
                <a:solidFill>
                  <a:srgbClr val="3286FF"/>
                </a:solidFill>
                <a:effectLst/>
                <a:latin typeface="__Inter_36bd41"/>
              </a:rPr>
              <a:t>https://aws.amazon.com/s3/</a:t>
            </a:r>
            <a:endParaRPr lang="en-US" sz="2000" b="0" i="0" dirty="0">
              <a:solidFill>
                <a:srgbClr val="374151"/>
              </a:solidFill>
              <a:effectLst/>
              <a:latin typeface="__Inter_36bd41"/>
            </a:endParaRPr>
          </a:p>
          <a:p>
            <a:endParaRPr lang="en-I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904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698" y="1602659"/>
            <a:ext cx="6095534" cy="3362632"/>
          </a:xfrm>
        </p:spPr>
        <p:txBody>
          <a:bodyPr/>
          <a:lstStyle/>
          <a:p>
            <a:r>
              <a:rPr lang="en-US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{DA8CF5F1-45B0-47BC-BE71-4387620F11FD}tf78438558_win32</Template>
  <TotalTime>1869</TotalTime>
  <Words>876</Words>
  <Application>Microsoft Office PowerPoint</Application>
  <PresentationFormat>Widescreen</PresentationFormat>
  <Paragraphs>120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__Inter_36bd41</vt:lpstr>
      <vt:lpstr>Algerian</vt:lpstr>
      <vt:lpstr>Arial</vt:lpstr>
      <vt:lpstr>Arial Black</vt:lpstr>
      <vt:lpstr>Arimo</vt:lpstr>
      <vt:lpstr>Calibri</vt:lpstr>
      <vt:lpstr>Calibri Light</vt:lpstr>
      <vt:lpstr>Sabon Next LT</vt:lpstr>
      <vt:lpstr>Times New Roman</vt:lpstr>
      <vt:lpstr>Custom</vt:lpstr>
      <vt:lpstr>PowerPoint Presentation</vt:lpstr>
      <vt:lpstr>Contents</vt:lpstr>
      <vt:lpstr>Abstract</vt:lpstr>
      <vt:lpstr>Introduction</vt:lpstr>
      <vt:lpstr>Literature Review</vt:lpstr>
      <vt:lpstr>PowerPoint Presentation</vt:lpstr>
      <vt:lpstr>Problem statement</vt:lpstr>
      <vt:lpstr>System requirements </vt:lpstr>
      <vt:lpstr>Modules to be Developed</vt:lpstr>
      <vt:lpstr>PowerPoint Presentation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 SEGMENTATION</dc:title>
  <dc:subject/>
  <dc:creator>Manas Dabhane</dc:creator>
  <cp:lastModifiedBy>HIMANSHU SHARMA</cp:lastModifiedBy>
  <cp:revision>15</cp:revision>
  <dcterms:created xsi:type="dcterms:W3CDTF">2024-04-26T13:40:25Z</dcterms:created>
  <dcterms:modified xsi:type="dcterms:W3CDTF">2024-09-22T11:41:42Z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